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Crimson Pro SemiBold" panose="020B0604020202020204" charset="0"/>
      <p:regular r:id="rId17"/>
    </p:embeddedFont>
    <p:embeddedFont>
      <p:font typeface="Heebo" pitchFamily="2" charset="-79"/>
      <p:regular r:id="rId18"/>
      <p:bold r:id="rId19"/>
    </p:embeddedFont>
    <p:embeddedFont>
      <p:font typeface="Heebo Bold" charset="-79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143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jpe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5" Type="http://schemas.openxmlformats.org/officeDocument/2006/relationships/image" Target="../media/image15.svg"/><Relationship Id="rId10" Type="http://schemas.openxmlformats.org/officeDocument/2006/relationships/image" Target="../media/image8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6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7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9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22.sv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1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0523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Fabric IQ, Ontología y MCP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79353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Semántica empresarial para agentes sobre datos vivos en OneLake</a:t>
            </a:r>
            <a:endParaRPr lang="en-US" sz="145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0E9B8334-7F89-A2F4-9042-CE2389F3F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3594398"/>
            <a:ext cx="6296860" cy="1058366"/>
          </a:xfrm>
          <a:prstGeom prst="roundRect">
            <a:avLst>
              <a:gd name="adj" fmla="val 2679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82" y="3862090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3830638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 semántica compartida, cada agente puede interpretar el negocio a su manera.</a:t>
            </a:r>
            <a:endParaRPr lang="en-US" sz="14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BDED79E-A252-6997-47B9-E8CA87613F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66502E9-A3EA-3B6A-9E0D-E04ED6502D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52712C6-6C51-D511-AD9C-FFD434D2A0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962A032-724F-4121-32CB-EDC8825672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07FF72A6-EFA8-A48D-DEE4-D4D03D2078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86FDB944-22D3-7771-DC87-D7513BC001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 arquitectura completa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Separamos datos, significado, consulta y orquestación.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217" y="1076027"/>
            <a:ext cx="10069161" cy="61421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3713" y="2276809"/>
            <a:ext cx="2294776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OneLake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911059" y="4999770"/>
            <a:ext cx="2294777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Ontología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66535" y="2569756"/>
            <a:ext cx="236932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MCP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457238" y="5711503"/>
            <a:ext cx="229477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Agent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94058" y="3209483"/>
            <a:ext cx="2294777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Codex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36476"/>
            <a:ext cx="6296860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Fabric IQ + Ontología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5233360" y="1339354"/>
            <a:ext cx="6906444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 ontología convierte tablas en conceptos de negocio.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33360" y="1800820"/>
            <a:ext cx="6296860" cy="1005582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410561" y="1978025"/>
            <a:ext cx="5942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Entidades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10561" y="2354560"/>
            <a:ext cx="5942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· Product · Shipment · Route · Sensor · TelemetryEvent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233360" y="2972495"/>
            <a:ext cx="6296860" cy="1005582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410561" y="3149699"/>
            <a:ext cx="5942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Propiedades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10561" y="3526234"/>
            <a:ext cx="5942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Atributos tipados de cada entidad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33360" y="4144169"/>
            <a:ext cx="6296860" cy="1005582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410561" y="4321373"/>
            <a:ext cx="5942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Relaciones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410561" y="4697909"/>
            <a:ext cx="5942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→ receives → Shipment → contains → Product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233360" y="5315843"/>
            <a:ext cx="6296860" cy="1005582"/>
          </a:xfrm>
          <a:prstGeom prst="roundRect">
            <a:avLst>
              <a:gd name="adj" fmla="val 2643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5410561" y="5493048"/>
            <a:ext cx="594245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Reglas de negocio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410561" y="5869583"/>
            <a:ext cx="5942459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Lógica empresarial codificada y compartida</a:t>
            </a:r>
            <a:endParaRPr lang="en-US" sz="13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0E4F3A76-3A29-871E-4E99-C7BB0EEA56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21448225-BB1C-6409-B669-02E61BA3C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E9BF514-C8A6-77CA-B506-98A189C9F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DAF23771-2B0E-8ABF-2C77-1D1184FF6B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FF67EE20-4859-8F57-5143-BB679E8149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892DE7F-6EFE-1057-6233-80E3240209E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C7F472B1-2EAC-8ABB-795F-2E564770CC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6727"/>
            <a:ext cx="6903269" cy="391189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2251" y="961529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Caso práctico: cadena de frío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8032251" y="2331839"/>
            <a:ext cx="3504219" cy="223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Identificar clientes con ingresos en riesgo por anomalías operativas.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Workspace: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CH_FabricIQ_Ontology_MCP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Lakehouse: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LH_ColdChainOps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Tablas: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sensors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133876"/>
            <a:ext cx="5339820" cy="11399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5348288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Problemas de temperatura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5756970"/>
            <a:ext cx="48094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Brecha fuera de rango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0301" y="5133876"/>
            <a:ext cx="5339919" cy="11399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06305" y="5348288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Retrasos en entrega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6506305" y="5756970"/>
            <a:ext cx="48095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ETA posterior a fecha prometida</a:t>
            </a:r>
            <a:endParaRPr lang="en-US" sz="145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CCE4195-2BE7-E8C5-2F8A-5350369B15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9CC4068-9330-C8ED-23CC-51A9FBA667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301C6CF-AF8B-C2BF-2E1B-6C39B76AEF1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B5E1BFF-9111-033F-5CF3-39F63A35AC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46152DF-AD2F-1DB3-BE9D-3664002BC9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3CE5092F-2607-47A8-A590-0D9CFC32BFD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8B3E456-3ECB-E8BF-0032-6A406E4E7E2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Ontología + reglas de negocio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Las reglas convierten eventos técnicos en decisiones empresariales.</a:t>
            </a:r>
            <a:endParaRPr lang="en-US" sz="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487" y="3179961"/>
            <a:ext cx="212620" cy="2126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252907" y="3197622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77334" y="3212405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ColdChainBreach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77334" y="3407271"/>
            <a:ext cx="505923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30+ minutos fuera de rango de temperatura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217487" y="3615134"/>
            <a:ext cx="212620" cy="2126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252907" y="3632795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77334" y="3647579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RevenueAtRisk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477334" y="3842445"/>
            <a:ext cx="5059236" cy="119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quantity × unit_value_eur</a:t>
            </a: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para envíos con brecha, retraso o ETA tardía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217487" y="4056658"/>
            <a:ext cx="212620" cy="212626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252907" y="4074319"/>
            <a:ext cx="141681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77334" y="4089102"/>
            <a:ext cx="5059236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RegulatedEscalation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77334" y="4283968"/>
            <a:ext cx="5059236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Producto regulado + brecha → escalado a Quality, Operations, account owner</a:t>
            </a:r>
            <a:endParaRPr lang="en-US" sz="70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3F63C715-593D-F502-1DD7-26BFB8D5A0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5D944BF-9659-6380-1508-171CA6F242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5560F175-98F4-88B9-DD23-FF5A33385C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9B3F111E-64E3-314E-7182-E4FACE5D88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80B16DE-DC2E-21B0-A7A5-2F9B1255FA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94390B7-196A-890C-FAC3-C7AA1E6441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630E216-2FDF-4538-7E54-DADB55B47FE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6831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MCP: el puente para los agentes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14243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MCP es el enchufe estándar que permite a un agente utilizar herramientas y contexto externos.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5350" y="2959894"/>
            <a:ext cx="3190101" cy="2629694"/>
          </a:xfrm>
          <a:prstGeom prst="roundRect">
            <a:avLst>
              <a:gd name="adj" fmla="val 1078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14357" y="3148905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Ontología MCP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14357" y="3633192"/>
            <a:ext cx="2812087" cy="1313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list_ontology_entity_types</a:t>
            </a: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¿Qué entidades existen?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highlight>
                  <a:srgbClr val="2E5DF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search_ontology</a:t>
            </a: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¿Qué significa RevenueAtRisk?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14357" y="5117108"/>
            <a:ext cx="342167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Explica el </a:t>
            </a:r>
            <a:r>
              <a:rPr lang="en-US" sz="145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significado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046833" y="3148905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Agent MCP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46833" y="3633192"/>
            <a:ext cx="2917851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DataAgent_DA_ColdChainOps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¿Qué clientes tienen ingresos en riesgo?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046833" y="4729559"/>
            <a:ext cx="352743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→ Consulta los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datos vivos</a:t>
            </a:r>
            <a:endParaRPr lang="en-US" sz="145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F1F63A6-ECF4-F57F-1A71-8C2CCEA0F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DB7BB9-E20B-362A-14C8-F492049AA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E20A8F8A-070C-2E83-2394-453C6FD1F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F52F38B-E9F6-EBE4-2FC6-BEAF75BF9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75370DE-0E3A-EFBA-9368-B4475BD583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DB7107D0-1805-D984-05F2-2F90D20A1F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FC2182FE-3B86-CE5E-DB20-213D88E1BF8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3896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Codex como orquestador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26046"/>
            <a:ext cx="11478330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Codex orquesta herramientas especializadas en lugar de reinventar la lógica.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566168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250001"/>
            <a:ext cx="1586822" cy="917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Combinar contexto y datos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40284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Consultar Data Agent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40284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Entender RevenueAtRisk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402845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Consultar Ontología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555689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Pregunta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82927" y="5773638"/>
            <a:ext cx="9546410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Prompt de demo:</a:t>
            </a: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"Actúa como orquestador: primero consulta la ontología para explicar RevenueAtRisk y después usa el Data Agent para decir qué clientes tienen ingresos en riesgo. Responde en castellano para negocio."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5643860"/>
            <a:ext cx="19050" cy="680244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BAD80EA-A92B-0C06-DDEB-6F729559A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72BF01-7D81-ADBB-550F-8B0B65773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AE324C6-1EC0-6524-91DA-991CBFFC58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3273714-3D42-72A6-87F4-1802A0100C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F83A257F-A5BC-8D65-9079-FAA1033F4D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D9878C7-5F12-BEC0-8FA8-DED551FBD0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976F526-6EBD-E8E2-AA79-D6D5A9A6C7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5837"/>
            <a:ext cx="6963791" cy="39462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33740" y="347200"/>
            <a:ext cx="3616731" cy="738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Configuración + demo en VS Code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7919740" y="1438573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919740" y="1626592"/>
            <a:ext cx="3616731" cy="1270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7919740" y="1711027"/>
            <a:ext cx="36167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Workspace en Fabric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919740" y="1969393"/>
            <a:ext cx="3616731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CH_FabricIQ_Ontology_MCP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19740" y="2298105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919740" y="2486124"/>
            <a:ext cx="3616731" cy="1270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7919740" y="2570559"/>
            <a:ext cx="36167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Lakehouse + Ontología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19740" y="2828925"/>
            <a:ext cx="3616731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LH_ColdChainOps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· </a:t>
            </a: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ONT_ColdChain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19740" y="3157637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919740" y="3345656"/>
            <a:ext cx="3616731" cy="1270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7919740" y="3430091"/>
            <a:ext cx="36167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Agent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19740" y="3688457"/>
            <a:ext cx="3616731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DA_ColdChainOps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19740" y="4017169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919740" y="4205188"/>
            <a:ext cx="3616731" cy="1270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7919740" y="4289623"/>
            <a:ext cx="36167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Archivo config.toml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19740" y="4547989"/>
            <a:ext cx="361673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Servidores MCP configurados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19740" y="4864001"/>
            <a:ext cx="236234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919740" y="5052020"/>
            <a:ext cx="3616731" cy="1270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919740" y="5136455"/>
            <a:ext cx="36167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Ejecutar y preguntar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919740" y="5394821"/>
            <a:ext cx="3616731" cy="166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4C4C4D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codex mcp list</a:t>
            </a:r>
            <a:r>
              <a:rPr lang="en-US" sz="9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→ formular pregunta a Codex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273475" y="5986760"/>
            <a:ext cx="3616731" cy="498872"/>
          </a:xfrm>
          <a:prstGeom prst="roundRect">
            <a:avLst>
              <a:gd name="adj" fmla="val 3552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246" y="5986760"/>
            <a:ext cx="147634" cy="11807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524392" y="6094310"/>
            <a:ext cx="311489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Token temporal obtenido por helper. No se guardan tokens en el archivo de configuración.</a:t>
            </a:r>
            <a:endParaRPr lang="en-US" sz="9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1109F83-E718-A1FC-283F-834170B772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2BF176B-596B-CA24-DAF7-28E89D51EB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AA00308B-B379-FE97-217E-EC0C38BF01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47A35CC-33EE-68E1-B0E0-5D60E60822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25399DE-3475-C796-32A7-576F3F21CE0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FDC10316-49B1-4C98-C059-1E72BB4E4C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A34EA9D-5FC4-BBD1-649B-1FEF305DA6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244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Resultado esperado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419027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queremos solo una cifra: queremos una </a:t>
            </a:r>
            <a:r>
              <a:rPr lang="en-US" sz="13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respuesta explicable.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48173"/>
          <a:ext cx="5221852" cy="1911698"/>
        </p:xfrm>
        <a:graphic>
          <a:graphicData uri="http://schemas.openxmlformats.org/drawingml/2006/table">
            <a:tbl>
              <a:tblPr/>
              <a:tblGrid>
                <a:gridCol w="26109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Cliente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Revenue at Risk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2150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5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Farmacia Salud Norte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28.200 EUR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5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Hospital Ribera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14.400 EUR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3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BioLab Granada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4C4C4D"/>
                          </a:solidFill>
                          <a:latin typeface="Heebo" pitchFamily="34" charset="0"/>
                          <a:ea typeface="Heebo" pitchFamily="34" charset="-122"/>
                          <a:cs typeface="Heebo" pitchFamily="34" charset="-120"/>
                        </a:rPr>
                        <a:t>12.000 EUR</a:t>
                      </a:r>
                      <a:endParaRPr lang="en-US" sz="1350" dirty="0">
                        <a:latin typeface="Heebo" charset="0"/>
                        <a:ea typeface="Heebo" charset="0"/>
                        <a:cs typeface="Heebo" charset="0"/>
                      </a:endParaRPr>
                    </a:p>
                  </a:txBody>
                  <a:tcPr marL="174252" marR="174252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153297"/>
            <a:ext cx="5831436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Valores de demo — no reales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76054" y="2192734"/>
            <a:ext cx="496051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"Farmacia Salud Norte tiene 28.200 EUR en riesgo debido a una brecha de cadena de frío en un producto regulado."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14719" y="2048173"/>
            <a:ext cx="19050" cy="824706"/>
          </a:xfrm>
          <a:prstGeom prst="roundRect">
            <a:avLst>
              <a:gd name="adj" fmla="val 49999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46327"/>
            <a:ext cx="2596688" cy="15584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0946" y="4939605"/>
            <a:ext cx="21339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Importe</a:t>
            </a:r>
            <a:endParaRPr lang="en-US" sz="1700" dirty="0"/>
          </a:p>
        </p:txBody>
      </p:sp>
      <p:sp>
        <p:nvSpPr>
          <p:cNvPr id="4" name="Text 6"/>
          <p:cNvSpPr/>
          <p:nvPr/>
        </p:nvSpPr>
        <p:spPr>
          <a:xfrm>
            <a:off x="930946" y="5308104"/>
            <a:ext cx="213394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Revenue at Risk calculado por regla</a:t>
            </a:r>
            <a:endParaRPr lang="en-US" sz="13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18794" y="4746327"/>
            <a:ext cx="2596688" cy="15584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88266" y="4939605"/>
            <a:ext cx="21339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Motivo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3688266" y="5308104"/>
            <a:ext cx="213394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Brecha de temperatura, retraso o ETA tardía</a:t>
            </a:r>
            <a:endParaRPr lang="en-US" sz="13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113" y="4746327"/>
            <a:ext cx="2596688" cy="15584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445585" y="4939605"/>
            <a:ext cx="21339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Regla aplicada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6445585" y="5308104"/>
            <a:ext cx="213394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ColdChainBreach / RevenueAtRisk / RegulatedEscalation</a:t>
            </a:r>
            <a:endParaRPr lang="en-US" sz="13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3433" y="4746327"/>
            <a:ext cx="2596787" cy="155842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202904" y="4939605"/>
            <a:ext cx="2134043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Datos origen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9202904" y="5308104"/>
            <a:ext cx="2134043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Trazabilidad completa hasta OneLake</a:t>
            </a:r>
            <a:endParaRPr lang="en-US" sz="135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DB34F41-2689-B43F-BB81-65A0AF6F0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458C9A10-432D-BC64-CDAF-D49EC8CED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ADBA4D-E39C-7C5D-B732-F3121A0988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3E9B965-93AD-E778-EE8D-3C23C3B3E2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E2C55FEA-FAB3-00C2-EF9E-B4740182E6A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8B3DE64-25BD-93C2-17A5-7B7BA7418F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CC727F7-23BB-759C-9A67-F6CD4628B56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9218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Beneficios + cierre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1443335"/>
            <a:ext cx="503951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OneLake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guarda los datos.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Fabric IQ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les da significado.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MCP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expone ese significado.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Data Agent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consulta datos vivos. </a:t>
            </a: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Codex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orquesta la experiencia.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097236" y="2563217"/>
            <a:ext cx="3190101" cy="3725466"/>
          </a:xfrm>
          <a:prstGeom prst="roundRect">
            <a:avLst>
              <a:gd name="adj" fmla="val 889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5286243" y="2752229"/>
            <a:ext cx="281208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Beneficios inmediatos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286243" y="3236516"/>
            <a:ext cx="2812087" cy="2986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Semántica centralizada y reutilizable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Menos duplicación de reglas de negocio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Contexto compartido entre agentes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Mejor gobierno y trazabilidad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Respuestas consistentes y explicables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618719" y="2752229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 validar en adopción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18719" y="3236516"/>
            <a:ext cx="2917851" cy="1776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Permisos y seguridad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Gobierno y calidad de datos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Datos sensibles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Ciclo de vida de ontologías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Monitorización de agentes</a:t>
            </a:r>
            <a:endParaRPr lang="en-US" sz="145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1749662-6884-5565-312A-54026977D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300" y="6357452"/>
            <a:ext cx="1952898" cy="543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3AE7ACC-2D91-9F8B-7FD2-F41DA8B25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4273" y="5643788"/>
            <a:ext cx="765639" cy="76563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D9B1A61-61E1-4CAC-F76C-99D421CE0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1224" y="6092361"/>
            <a:ext cx="765639" cy="7656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B0C974F-1F86-8163-0837-5791DD66D5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33262" y="-173321"/>
            <a:ext cx="1516040" cy="153953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00562AE2-0118-90D5-4DA1-BEBB0696E2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9965" y="1515641"/>
            <a:ext cx="602463" cy="602463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3EED8BB-BF8E-B695-3EB7-AFA2350EA6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72870" y="6026607"/>
            <a:ext cx="1465112" cy="765639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8A3C705-D20E-7867-65E3-D048D7C3EC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2295" y="1189014"/>
            <a:ext cx="679705" cy="679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590</Words>
  <Application>Microsoft Office PowerPoint</Application>
  <PresentationFormat>Panorámica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Heebo Bold</vt:lpstr>
      <vt:lpstr>Crimson Pro Light</vt:lpstr>
      <vt:lpstr>Consolas</vt:lpstr>
      <vt:lpstr>Crimson Pro SemiBold</vt:lpstr>
      <vt:lpstr>Heebo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vicente antonio juan magallanes</cp:lastModifiedBy>
  <cp:revision>2</cp:revision>
  <dcterms:created xsi:type="dcterms:W3CDTF">2026-09-11T09:14:20Z</dcterms:created>
  <dcterms:modified xsi:type="dcterms:W3CDTF">2026-09-11T09:18:05Z</dcterms:modified>
</cp:coreProperties>
</file>