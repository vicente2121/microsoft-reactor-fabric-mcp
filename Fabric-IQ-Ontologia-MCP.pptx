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  <p:bold r:id="rId19"/>
    </p:embeddedFont>
    <p:embeddedFont>
      <p:font typeface="Roboto Bold" panose="02000000000000000000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91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jpe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jpe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9.svg"/><Relationship Id="rId10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908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Fabric IQ + Ontología + MCP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6491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datos a agentes con contexto de negocio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979962"/>
            <a:ext cx="406796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46765" y="4036616"/>
            <a:ext cx="44507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FABRIC · ONTOLOGÍA · MCP · DATA AGENTS</a:t>
            </a:r>
            <a:endParaRPr lang="en-US" sz="11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B7A6D2-D914-B84B-7352-6AB9F4672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E1FF460-D7FD-20FA-CA51-3F185B727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57AFB72-54F4-70AD-889B-8A3193BC9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A0C61F5-03FA-5B88-EB27-943A7E6A8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24715D-4E25-6231-9047-EC64732EC1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3A46FFA-33B2-F454-FB87-4864DB9935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84245AE-53B0-882D-51F3-3090FF57C2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2838"/>
            <a:ext cx="352307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desafío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2632670"/>
            <a:ext cx="35230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agentes de IA no pueden trabajar solos con tablas crudas. Necesitan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contexto estructurado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razonar correctamente.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81" y="717550"/>
            <a:ext cx="6913390" cy="39176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08860"/>
            <a:ext cx="3512157" cy="131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3923" y="5205115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vocabulario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933923" y="5581650"/>
            <a:ext cx="30434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agente no puede leer solo tablas sin entender qué significan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720" y="5008860"/>
            <a:ext cx="3512157" cy="1318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12167" y="5205115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relaciones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4612167" y="5581650"/>
            <a:ext cx="30434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Necesita entender entidades, relaciones y KPIs del negocio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7964" y="5008860"/>
            <a:ext cx="3512157" cy="1318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90412" y="5205115"/>
            <a:ext cx="3043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gobierno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8169924" y="5518404"/>
            <a:ext cx="30434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Requiere reglas de negocio gobernadas y validadas</a:t>
            </a:r>
            <a:endParaRPr lang="en-US" sz="13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8C4269C-962C-14CE-39B7-D6A6E10F1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EB58B2C-03F7-30DB-4133-A53EBF81EF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310F7A6-FE6F-D4B0-D727-637282AD3D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F9665F5-6694-0275-792D-D8092E0B49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ADB0FF3-9DEA-8BD0-C7BE-E9A4BD73DA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0FFF016-094B-73A6-F011-F740336179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9F28825-F8E0-47B7-A3B0-423526E326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71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 práctico: Cadena de frío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65797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56832" y="276115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Dominio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16984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Clientes, productos regulados, rutas, sensores, envíos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565797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42716" y="276115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Lakehouse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16984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LH_ColdChainOps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565797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8600" y="276115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Semántico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16984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SM_ColdChainExecutive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15905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56832" y="435441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Ontologías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76309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ONT_ColdChain · ONT_ColdChain_SM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15905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385658" y="435441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76309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DA_ColdChainOps</a:t>
            </a:r>
            <a:endParaRPr lang="en-US" sz="14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BB7E16E-E84D-EDC4-2BC7-61E857892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F4FB3F-FE65-F935-D334-DCFC4474E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D182309-63ED-FF4A-5FD3-3C74B5A6A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E68A865-AC25-413E-95CE-5CC5242BE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EB713D6-6E18-1BDA-B47A-588B082994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4C78E5E-4118-5FC5-80B6-C346D3B799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0BE3E8F-5CD2-6FB0-F760-1970C01AFE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288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Primera ontología: origen Lakehouse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15" y="1396206"/>
            <a:ext cx="6024610" cy="47825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5155" y="3518455"/>
            <a:ext cx="1082664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ONT_ColdChain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40215" y="1745466"/>
            <a:ext cx="1610655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LH_ColdChainOps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640215" y="2311018"/>
            <a:ext cx="1610655" cy="36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Tablas Lakehouse (datos crudos)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55560" y="1961261"/>
            <a:ext cx="1610655" cy="24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55560" y="2279247"/>
            <a:ext cx="1610655" cy="18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 empresarial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55560" y="5103706"/>
            <a:ext cx="1610655" cy="24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Shipment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955560" y="5421692"/>
            <a:ext cx="1610655" cy="18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 empresarial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40215" y="5103706"/>
            <a:ext cx="1610655" cy="24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640215" y="5421692"/>
            <a:ext cx="1610655" cy="18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 empresarial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21157" y="3510478"/>
            <a:ext cx="1645864" cy="24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221157" y="3828463"/>
            <a:ext cx="1645864" cy="18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 empresarial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65817" y="3519281"/>
            <a:ext cx="1645864" cy="24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365817" y="3837266"/>
            <a:ext cx="1645864" cy="18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 empresarial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90084" y="1513284"/>
            <a:ext cx="3546485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datos físicos a vocabulario empresarial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990084" y="2160389"/>
            <a:ext cx="3546485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ONT_ColdChain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nace directamente de las tablas del Lakehouse </a:t>
            </a:r>
            <a:r>
              <a:rPr lang="en-US" sz="1250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LH_ColdChainOps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 estructuras físicas en conceptos comprensibles: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990084" y="3378002"/>
            <a:ext cx="3546485" cy="169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Shipment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TelemetryEvent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90084" y="5228630"/>
            <a:ext cx="3546485" cy="815578"/>
          </a:xfrm>
          <a:prstGeom prst="roundRect">
            <a:avLst>
              <a:gd name="adj" fmla="val 836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502" y="5444331"/>
            <a:ext cx="202996" cy="16242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86511" y="5260969"/>
            <a:ext cx="285623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Clave: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datos físicos a vocabulario empresarial comprensible por agentes.</a:t>
            </a:r>
            <a:endParaRPr lang="en-US" sz="12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B18045D-EAED-F6B1-AF4A-0AF8A2536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3691BE1-CE6B-F6E3-CBCB-3B1596E30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7FCD768-1998-5F3B-F320-9FEDB3FD42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9D82D7D-A530-4341-7AFC-DD60869CD0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F0235BF-EC90-F777-04C2-B048EA7CE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08E979BE-E1A1-DB90-8D41-D4FF0E0A9A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271029DF-B083-80F0-31FE-E7474B2718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68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Segunda ontología: origen modelo semántico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29655"/>
            <a:ext cx="352307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gobernado → contexto reutilizable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2249587"/>
            <a:ext cx="35230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ONT_ColdChain_SM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nace del modelo semántico </a:t>
            </a:r>
            <a:r>
              <a:rPr lang="en-US" sz="1350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SM_ColdChainExecutive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que ya contiene: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3222923"/>
            <a:ext cx="3523070" cy="12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Nombres de negocio definidos y validados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Relaciones entre entidades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Medidas y KPIs gobernados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4624586"/>
            <a:ext cx="3523070" cy="1485900"/>
          </a:xfrm>
          <a:prstGeom prst="roundRect">
            <a:avLst>
              <a:gd name="adj" fmla="val 500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5" y="4876701"/>
            <a:ext cx="221451" cy="1772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7326" y="4818261"/>
            <a:ext cx="2770019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Clave:</a:t>
            </a: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modelo semántico actúa como fuente de verdad empresarial reutilizable para agentes.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081" y="2882801"/>
            <a:ext cx="6913390" cy="18951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51898" y="4122793"/>
            <a:ext cx="1908646" cy="238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ONT_ColdChain_SM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51898" y="3282967"/>
            <a:ext cx="2148419" cy="238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SM_ColdChainExecutive</a:t>
            </a:r>
            <a:endParaRPr lang="en-US" sz="15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5085C25-5D3F-78D7-0092-FF43352EA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5AA30C-EE50-0221-F83C-5CFBDEAA8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F296D84-0A52-BFE5-C8D1-5CDB0EA909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F57AD5A-7567-B76F-9072-2AEFC3EA1A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E9688B9-E410-E95D-BC6C-7CB3B8B10E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DCF98DC-3750-26E6-9A14-90A9A11420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C0D1CEC-2571-9097-17C5-DD27AA4B73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157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aparecen Lakehouse y Graph en ambas?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90439"/>
            <a:ext cx="6938590" cy="3931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6570" y="2208907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interna de Fabric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66570" y="2554883"/>
            <a:ext cx="356990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crear cualquier ontología,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Fabric genera automáticamente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 propia infraestructura interna: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66570" y="3079353"/>
            <a:ext cx="3569901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Grafo semántico administrado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Lakehouse administrado interno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Analytics Endpoint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66570" y="3894733"/>
            <a:ext cx="356990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aparezca un Lakehouse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significa que sea el origen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 ontología.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481935"/>
            <a:ext cx="10868745" cy="8499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4356" y="5648623"/>
            <a:ext cx="104591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Diferencia real en metadatos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04356" y="5948462"/>
            <a:ext cx="1045918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SemanticModelImportStatus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revelan el origen verdadero</a:t>
            </a:r>
            <a:endParaRPr lang="en-US" sz="11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46CA8BD-A388-1C05-BED9-C5E568757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1B13FC-B0F1-E917-2206-6024D0ACC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8556D07-4134-F447-3DB4-4D0A129B0D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A6815BE-CE3F-90A1-9ED0-723CAB38A9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D5A090-5F13-914C-BBCE-3168F4D8CE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56392B6-FBA0-6456-EAB3-A61D8A7F27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E11D4D2-FB40-A956-189F-08AE3A3C8F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Arquitectura: del dato al agente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33" y="909538"/>
            <a:ext cx="6047331" cy="604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9492" y="1999110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Lakehouse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9492" y="2391749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Almacena datos crudos y fuente unificada.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4018" y="1937973"/>
            <a:ext cx="1948539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Semántico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4018" y="2636299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 KPIs para análisis consistente.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9662" y="5025246"/>
            <a:ext cx="19485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Ontología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659662" y="5417884"/>
            <a:ext cx="1948538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 significado y relaciona conceptos.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4018" y="5025246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MCP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94018" y="5417884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Expone herramientas y APIs integradas.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1475" y="7010003"/>
            <a:ext cx="10868745" cy="969169"/>
          </a:xfrm>
          <a:prstGeom prst="roundRect">
            <a:avLst>
              <a:gd name="adj" fmla="val 409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67825" y="7016353"/>
            <a:ext cx="3618616" cy="478234"/>
          </a:xfrm>
          <a:custGeom>
            <a:avLst/>
            <a:gdLst/>
            <a:ahLst/>
            <a:cxnLst/>
            <a:rect l="l" t="t" r="r" b="b"/>
            <a:pathLst>
              <a:path w="3618616" h="478234">
                <a:moveTo>
                  <a:pt x="33078" y="0"/>
                </a:moveTo>
                <a:lnTo>
                  <a:pt x="3618616" y="0"/>
                </a:lnTo>
                <a:lnTo>
                  <a:pt x="3618616" y="478234"/>
                </a:lnTo>
                <a:lnTo>
                  <a:pt x="0" y="478234"/>
                </a:lnTo>
                <a:lnTo>
                  <a:pt x="0" y="33079"/>
                </a:lnTo>
                <a:arcTo wR="33078" hR="33079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62279" y="7110809"/>
            <a:ext cx="34297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Lakehouse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2279" y="7286724"/>
            <a:ext cx="342970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Almacena datos crudos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286440" y="7016353"/>
            <a:ext cx="3618715" cy="478234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4286440" y="7016353"/>
            <a:ext cx="12700" cy="47823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4380894" y="7110809"/>
            <a:ext cx="342980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Semántico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80894" y="7286724"/>
            <a:ext cx="3429807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 KPIs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7905155" y="7016353"/>
            <a:ext cx="3618715" cy="478234"/>
          </a:xfrm>
          <a:custGeom>
            <a:avLst/>
            <a:gdLst/>
            <a:ahLst/>
            <a:cxnLst/>
            <a:rect l="l" t="t" r="r" b="b"/>
            <a:pathLst>
              <a:path w="3618715" h="478234">
                <a:moveTo>
                  <a:pt x="0" y="0"/>
                </a:moveTo>
                <a:lnTo>
                  <a:pt x="3585637" y="0"/>
                </a:lnTo>
                <a:arcTo wR="33078" hR="33079" stAng="16200000" swAng="5400000"/>
                <a:lnTo>
                  <a:pt x="3618715" y="478234"/>
                </a:lnTo>
                <a:lnTo>
                  <a:pt x="0" y="47823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905155" y="7016353"/>
            <a:ext cx="12700" cy="47823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999609" y="7110809"/>
            <a:ext cx="342980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Ontología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99609" y="7286724"/>
            <a:ext cx="3429807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 significado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67825" y="7494587"/>
            <a:ext cx="5428023" cy="478234"/>
          </a:xfrm>
          <a:custGeom>
            <a:avLst/>
            <a:gdLst/>
            <a:ahLst/>
            <a:cxnLst/>
            <a:rect l="l" t="t" r="r" b="b"/>
            <a:pathLst>
              <a:path w="5428023" h="478234">
                <a:moveTo>
                  <a:pt x="0" y="0"/>
                </a:moveTo>
                <a:lnTo>
                  <a:pt x="5428023" y="0"/>
                </a:lnTo>
                <a:lnTo>
                  <a:pt x="5428023" y="478234"/>
                </a:lnTo>
                <a:lnTo>
                  <a:pt x="33078" y="478234"/>
                </a:lnTo>
                <a:arcTo wR="33078" hR="33079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667825" y="7494587"/>
            <a:ext cx="5428023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762279" y="7589044"/>
            <a:ext cx="523911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2279" y="7764959"/>
            <a:ext cx="523911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Expone herramientas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6095848" y="7494587"/>
            <a:ext cx="5428023" cy="478234"/>
          </a:xfrm>
          <a:custGeom>
            <a:avLst/>
            <a:gdLst/>
            <a:ahLst/>
            <a:cxnLst/>
            <a:rect l="l" t="t" r="r" b="b"/>
            <a:pathLst>
              <a:path w="5428023" h="478234">
                <a:moveTo>
                  <a:pt x="0" y="0"/>
                </a:moveTo>
                <a:lnTo>
                  <a:pt x="5428023" y="0"/>
                </a:lnTo>
                <a:lnTo>
                  <a:pt x="5428023" y="445155"/>
                </a:lnTo>
                <a:arcTo wR="33078" hR="33079" stAng="0" swAng="5400000"/>
                <a:lnTo>
                  <a:pt x="0" y="47823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6095848" y="7494587"/>
            <a:ext cx="12700" cy="478234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6095848" y="7494587"/>
            <a:ext cx="5428023" cy="127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6190301" y="7589044"/>
            <a:ext cx="523911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Agent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90301" y="7764959"/>
            <a:ext cx="523911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datos vivos</a:t>
            </a:r>
            <a:endParaRPr lang="en-US" sz="7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D6F440C7-246D-76D8-D808-831EF2EE0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1B2A9D4-5C65-3828-CE13-B59156F0D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12888AA4-EED0-8FAF-A19B-6E2D411FA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A251DE8C-7C9C-C8FC-EE9A-2D74DC384B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D6E6401-E5F9-14D5-58D8-D6579C66B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681E818C-570B-1D8B-D12C-2403E75F9B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79ECCF3E-5936-8922-BD73-8078AFA86E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 corregimos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8703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732365" y="19057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Problema detectado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 ontologías con origen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Lakehouse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sin diferenciación semántica real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32365" y="3362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Nueva ontología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Creamos </a:t>
            </a:r>
            <a:r>
              <a:rPr lang="en-US" sz="1450" dirty="0">
                <a:solidFill>
                  <a:srgbClr val="0078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ONT_ColdChain_SM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correctamente desde el modelo semántico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32365" y="48186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Validación y actualización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Validamos importación semántica · Actualizamos endpoints MCP en Codex · Eliminamos ontología incorrecta</a:t>
            </a:r>
            <a:endParaRPr lang="en-US" sz="14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5ED74C6-BA48-9AC5-7C61-0115BD5EB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237480E-0B56-A3F4-B5A6-8D7749792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B0216EB-6FF4-4999-C7A1-0808461B9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D37ED2B-E0E9-C787-9130-FE515CE6E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4BC7866-8C63-6ADE-B0CB-5DAD690204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6880D1F-546A-6547-BB49-1C25438E47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0137F3B-2B2C-D200-F4DB-493DF54CEA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33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Demo: Codex + MCP + Data Agent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102618"/>
            <a:ext cx="529388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Consulta 1: Tipos de entidad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4210" y="1424484"/>
            <a:ext cx="57307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"Lista tipos de entidad"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1475" y="1361380"/>
            <a:ext cx="12700" cy="274439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61475" y="1714698"/>
            <a:ext cx="460661" cy="69105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92282" y="1829792"/>
            <a:ext cx="47630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75905"/>
            <a:ext cx="460661" cy="69105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92282" y="2590998"/>
            <a:ext cx="47630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3237111"/>
            <a:ext cx="460661" cy="69105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92282" y="3352205"/>
            <a:ext cx="47630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998317"/>
            <a:ext cx="460661" cy="69105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192282" y="4113411"/>
            <a:ext cx="47630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1475" y="4759523"/>
            <a:ext cx="460661" cy="69105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192282" y="4874617"/>
            <a:ext cx="47630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5520730"/>
            <a:ext cx="460661" cy="69105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192282" y="5635823"/>
            <a:ext cx="47630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TelemetryEvent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2688" y="1102618"/>
            <a:ext cx="529388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Consulta 2: Clientes con ingresos en riesgo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423" y="1424484"/>
            <a:ext cx="57307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"¿Clientes con ingresos en riesgo?"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2688" y="1361380"/>
            <a:ext cx="12700" cy="274439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s-E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2688" y="1714698"/>
          <a:ext cx="5293882" cy="999306"/>
        </p:xfrm>
        <a:graphic>
          <a:graphicData uri="http://schemas.openxmlformats.org/drawingml/2006/table">
            <a:tbl>
              <a:tblPr/>
              <a:tblGrid>
                <a:gridCol w="2646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2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Cliente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Ingresos en riesgo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Farmacia Salud Norte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28.200 €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Hospital Ribera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14.400 €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BioLab Granada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12.000 €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5183" marR="11518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Imagen 21">
            <a:extLst>
              <a:ext uri="{FF2B5EF4-FFF2-40B4-BE49-F238E27FC236}">
                <a16:creationId xmlns:a16="http://schemas.microsoft.com/office/drawing/2014/main" id="{A254AAE1-C531-81B4-B9DF-63054D117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16C7050-B718-994D-D16F-CEA193D78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001E104-A629-A8B4-70D0-7907B69F6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3F63FEA-39E8-3622-2F3B-CF150FC25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F29F292B-F660-64FE-6AEF-26ABB7134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6D52265-184C-C3A8-4396-053A11E418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F144BEE-B1F7-DEED-DEF2-0F98082F14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01144" y="286912"/>
            <a:ext cx="4946338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clave: semántica gobernada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233360" y="1267817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402127" y="1436588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invención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02127" y="1774130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agente no inventa definiciones propias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33360" y="2324001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402127" y="2492772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ontología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02127" y="2830314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la ontología para entender el vocabulario empresarial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3380184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402127" y="3548955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datos vivos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02127" y="3886498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el Data Agent para obtener cálculos reales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4436368"/>
            <a:ext cx="6296860" cy="916682"/>
          </a:xfrm>
          <a:prstGeom prst="roundRect">
            <a:avLst>
              <a:gd name="adj" fmla="val 74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402127" y="4605139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Respuesta = Gobierno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02127" y="4942681"/>
            <a:ext cx="59593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Significado + cálculo + gobierno empresarial integrados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76936" y="5666978"/>
            <a:ext cx="605328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clave no es tener un agente que responda. La clave es que responda usando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semántica empresarial gobernada desde Fabric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233360" y="5510014"/>
            <a:ext cx="19050" cy="79712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D9A97DD-E151-C775-51A0-28588483F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33535"/>
            <a:ext cx="1952898" cy="54300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3CE11FA-AD98-8F74-5966-739BC6D1A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19871"/>
            <a:ext cx="765639" cy="76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645582E-A9C5-9A92-3CAE-C60B36528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68444"/>
            <a:ext cx="765639" cy="7656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03E0E3A-493E-B128-67B3-74B225DC5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E463501-505D-B832-D4FF-E598702C2A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44B1B6-586A-FC7B-B3F4-210450A4BD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02690"/>
            <a:ext cx="1465112" cy="76563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185B71B-03A8-86A9-DA20-902C3C2F80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65097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554</Words>
  <Application>Microsoft Office PowerPoint</Application>
  <PresentationFormat>Panorámica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Roboto</vt:lpstr>
      <vt:lpstr>Consolas</vt:lpstr>
      <vt:lpstr>Raleway</vt:lpstr>
      <vt:lpstr>Arial</vt:lpstr>
      <vt:lpstr>Roboto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vicente antonio juan magallanes</cp:lastModifiedBy>
  <cp:revision>3</cp:revision>
  <dcterms:created xsi:type="dcterms:W3CDTF">2026-09-11T13:19:41Z</dcterms:created>
  <dcterms:modified xsi:type="dcterms:W3CDTF">2026-09-11T15:00:15Z</dcterms:modified>
</cp:coreProperties>
</file>