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Bold" panose="020B0604020202020204" charset="0"/>
      <p:regular r:id="rId17"/>
    </p:embeddedFont>
    <p:embeddedFont>
      <p:font typeface="Crimson Pro SemiBold" panose="020B0604020202020204" charset="0"/>
      <p:regular r:id="rId18"/>
    </p:embeddedFont>
    <p:embeddedFont>
      <p:font typeface="Heebo" pitchFamily="2" charset="-79"/>
      <p:regular r:id="rId19"/>
      <p:bold r:id="rId20"/>
    </p:embeddedFont>
    <p:embeddedFont>
      <p:font typeface="Heebo Bold" charset="-79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883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3.svg"/><Relationship Id="rId10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7.sv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24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7.png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Ontología en Fabric: Automático vs. Manual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Guía técnica para arquitectos de datos e ingenieros de Fabric sobre las dos vías de construcción de ontologías y sus implicaciones prácticas.</a:t>
            </a:r>
            <a:endParaRPr lang="en-US" sz="14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D8D381-3862-FE74-4919-9450A9DF3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34B32B2-81F1-5170-BBD0-F27A846FE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F493351-088F-89EB-B960-CA09418E3F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0C1A29-6BAD-76F7-DEED-23C7F968D9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1326788-8224-FA6A-471A-7AA7D32C7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CBC6AE6-203A-AAC3-CECF-13F2BACA23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3781F42-5E57-8E98-3DC0-A1D5D7E249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9771"/>
            <a:ext cx="513294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Vía 1: Desde Modelo Semántico (Automático)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14538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04251" y="204995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47608" y="207942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Proceso automatizado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847608" y="2488109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"Generate ontology from semantic model" crea automáticamente tipos de entidad, propiedades estáticas y relaciones.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3470970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304251" y="350639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47608" y="353585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Qué genera Fabric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3944541"/>
            <a:ext cx="56826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Tipos de entidad que reflejan tablas, propiedades basadas en columnas, </a:t>
            </a: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bindings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filas del lakehouse y tipos de relación que siguen las relaciones del modelo.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5229820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5304251" y="526524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47608" y="529470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Ventaja clave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847608" y="5703391"/>
            <a:ext cx="41899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Reutilizas el trabajo de modelado ya hecho en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Power BI / Fabric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de meses a minutos.</a:t>
            </a:r>
            <a:endParaRPr lang="en-US" sz="14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657E6F6-5870-81A2-FEC0-6922BB9F5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9B41713-09E4-45E5-0F3E-61E049A3C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9627B6C-36BF-A90B-45E6-ED5726E41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84259B1-D7CE-4B6D-C806-47EBE18FA3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4F8039F-ED23-C243-FE41-625935E2A0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AF9147A-8A83-DC26-8FE1-8CF7C6C4F8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52CB077-DAFE-7CC2-A4BB-ED4E28E4E4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906363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Vía 2: Desde Lakehouse Directo (Manual)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2300288"/>
            <a:ext cx="2175019" cy="36277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514699"/>
            <a:ext cx="16446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Proceso manual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998986"/>
            <a:ext cx="164460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Defines cada tipo de entidad — nombre, propiedades, tipos de datos y restricciones — uno a uno.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300288"/>
            <a:ext cx="2175118" cy="36277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514699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Tu responsabilidad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294261"/>
            <a:ext cx="1644708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Creas bindings apuntando cada entidad a tablas de lakehouse/warehouse, mapeando columnas a propiedades explícitamente.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1353" y="2300288"/>
            <a:ext cx="2175118" cy="36277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514699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Ventaja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2998986"/>
            <a:ext cx="1644708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Control total desde el diseño, con capacidad de mezclar fuentes heterogéneas — a costa de mayor inversión de tiempo.</a:t>
            </a:r>
            <a:endParaRPr lang="en-US" sz="14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588F2B8-5336-92E4-24BD-BF51E9404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4F45BEC-341F-9C6B-E786-2728E8B11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8FDC5D1-DFB5-6244-B17A-634E66E915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97973CB-BADF-9791-8EA1-99B233AA9B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6B81FFC-8F96-8EDE-C846-453AC9DC30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8ECEAB8-BFB8-F331-2862-6BC6A334E4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EDE9E7A-4454-1BB6-1BAA-9E4A50C9E3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2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El Modo del Modelo Semántico Importa (y Mucho)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015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 modo de almacenamiento del modelo semántico determina qué obtiene la ontología generada automáticamente.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16572"/>
          <a:ext cx="10868744" cy="2527237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Modo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Estructura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Data Bindings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Consultable vía Ontología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Import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Sí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No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No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DirectQuery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Sí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No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No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2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Direct Lake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Sí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Solo con acceso público entrante habilitado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Sí (condicional)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61475" y="5169198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3689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540543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Solo Direct Lake puede generar bindings de datos reales — y únicamente bajo condiciones de red específicas.</a:t>
            </a:r>
            <a:endParaRPr lang="en-US" sz="14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5BE7A5-FB4F-D5E8-EE27-501E526A2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7F50FF5-9A71-50B1-0747-8D23FEFAD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78D1FB6-D1B0-AFE7-5BE4-5473E7CC8A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7F77407-52C1-6751-9347-7162B20829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12F826-B828-B06C-6B14-64E068DBF1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62D7AC1-5BF7-34D9-B91A-6CB905E9A6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FD02EB1-B535-4DA4-17AF-D2DE7B0A09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7044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Direct Lake: La Condición de Seguridad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5350" y="2335213"/>
            <a:ext cx="3190101" cy="3652242"/>
          </a:xfrm>
          <a:prstGeom prst="roundRect">
            <a:avLst>
              <a:gd name="adj" fmla="val 889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14357" y="2524224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Acceso público entrante </a:t>
            </a: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habilitado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3303786"/>
            <a:ext cx="2812087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Obtienes bindings reales y funcionales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Consultas operativas desde la ontología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Ideal para entornos de desarrollo/laboratorio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2524224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Acceso público entrante </a:t>
            </a:r>
            <a:r>
              <a:rPr lang="en-US" sz="1850" b="1" dirty="0">
                <a:solidFill>
                  <a:srgbClr val="152D47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deshabilitado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3303786"/>
            <a:ext cx="2917851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ontología se crea pero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sin bindings de datos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 habitual en producción con buena postura de seguridad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Las consultas por ontología solo leen columnas crudas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Medidas y columnas calculadas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 se soportan</a:t>
            </a:r>
            <a:endParaRPr lang="en-US" sz="14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BF4B5C6-9300-F0BB-F7F5-0DD82EB56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C694BF5-AE4F-FFD7-B56F-2227A8151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01B46EE-C1E8-6873-4A46-407FB8678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8E209D4-367F-E7E8-BAEA-17AE66EF8D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8EB5904-2CA6-3B70-84BD-382B141320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A957EBF-EA32-9640-4ED4-56726218B9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57C8167-5C94-4508-9EA7-9981D291CC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30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Requisitos de Datos — Ambas Vías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01739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801739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Tablas Managed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210421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Las tablas de lakehouse deben ser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administradas (managed)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 externas. Las tablas externas no son compatibles con los bindings de ontología.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135" y="2801739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801739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Seguridad OneLake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210421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seguridad a nivel de OneLake debe estar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deshabilitada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para que el motor de ontología pueda acceder a los datos subyacentes.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2801739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801739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Column Mapping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210421"/>
            <a:ext cx="27567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Debe estar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deshabilitado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Se activa automáticamente con caracteres especiales o en tablas delta que respaldan modelos Import — un riesgo silencioso.</a:t>
            </a:r>
            <a:endParaRPr lang="en-US" sz="14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6C314FF-6A8A-312E-D57C-40DE1BDEA0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0CB2D3-8B0C-D5A6-16D3-AAD79E6324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2C4F40A-A62F-C766-966E-3477AFEF26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22C23CC-ABEF-1665-AED3-94AAFA163B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FCFC191-D7AD-D286-8E88-26B5C8E3BB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4E523F5-08DA-2187-BD18-6970230A25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F4F2DFE-AE7C-E179-6FB6-B3DDCCCEEF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8074"/>
            <a:ext cx="690833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Limitaciones Adicionales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2349798"/>
            <a:ext cx="2141583" cy="278110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71307" y="2404666"/>
            <a:ext cx="253150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DESDE MODELO SEMÁNTICO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827437"/>
            <a:ext cx="690833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Estas limitaciones afectan específicamente a la vía automática y pueden tener impacto serio en modelos de producción.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26" y="725488"/>
            <a:ext cx="3513645" cy="35137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4638278"/>
            <a:ext cx="5345673" cy="1693664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69928" y="4846737"/>
            <a:ext cx="492876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Tipo Decimal no soportado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9928" y="5239147"/>
            <a:ext cx="4928767" cy="88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 motor de Graph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 soporta Decimal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Devuelve </a:t>
            </a:r>
            <a:r>
              <a:rPr lang="en-US" sz="14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 cada consulta — problema crítico para campos monetarios o financieros.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84448" y="4638278"/>
            <a:ext cx="5345773" cy="1693664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392901" y="4846737"/>
            <a:ext cx="4928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Colisión de nombres de propiedad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92901" y="5239147"/>
            <a:ext cx="492886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Dos tipos de entidad no pueden compartir el mismo nombre de propiedad a menos que el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tipo de dato coincida exactamente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0AD0EA9-F67A-5601-745C-3C7DA3484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EBA5DC7-189C-5243-84E1-8DFC5C7FD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6B06E08-AA6B-ADAA-7923-18B330205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0C656C7-09BE-96AA-475F-00C501DB42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7F34E39-3DA9-D0F9-E508-3251906CA6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00DD637-C150-C71D-FF73-85CC29D0A4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8D3F099-1D02-33C7-F227-1346295E00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93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Diferencia Conceptual de Fondo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48049"/>
            <a:ext cx="10868745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61475" y="2648049"/>
            <a:ext cx="5434373" cy="1693962"/>
          </a:xfrm>
          <a:custGeom>
            <a:avLst/>
            <a:gdLst/>
            <a:ahLst/>
            <a:cxnLst/>
            <a:rect l="l" t="t" r="r" b="b"/>
            <a:pathLst>
              <a:path w="5434373" h="1693962">
                <a:moveTo>
                  <a:pt x="23627" y="0"/>
                </a:moveTo>
                <a:lnTo>
                  <a:pt x="5434373" y="0"/>
                </a:lnTo>
                <a:lnTo>
                  <a:pt x="5434373" y="1693962"/>
                </a:lnTo>
                <a:lnTo>
                  <a:pt x="23627" y="1693962"/>
                </a:lnTo>
                <a:arcTo wR="23627" hR="23628" stAng="5400000" swAng="5400000"/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50482" y="2837061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Modelo Semántico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245743"/>
            <a:ext cx="505635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métricas, jerarquías y relaciones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para un dominio analítico concreto. Ligado a un conjunto específico de informes y a una fuente de datos.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648049"/>
            <a:ext cx="5434373" cy="1693962"/>
          </a:xfrm>
          <a:custGeom>
            <a:avLst/>
            <a:gdLst/>
            <a:ahLst/>
            <a:cxnLst/>
            <a:rect l="l" t="t" r="r" b="b"/>
            <a:pathLst>
              <a:path w="5434373" h="1693962">
                <a:moveTo>
                  <a:pt x="0" y="0"/>
                </a:moveTo>
                <a:lnTo>
                  <a:pt x="5410745" y="0"/>
                </a:lnTo>
                <a:arcTo wR="23627" hR="23628" stAng="16200000" swAng="5400000"/>
                <a:lnTo>
                  <a:pt x="5434373" y="1670334"/>
                </a:lnTo>
                <a:arcTo wR="23627" hR="23628" stAng="0" swAng="5400000"/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095848" y="2648049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84854" y="2837061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Ontología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245743"/>
            <a:ext cx="505635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sitúa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por encima de todas tus fuentes físicas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 actúa como fuente única de verdad para cualquier herramienta, analista o agente de IA.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554637"/>
            <a:ext cx="1086874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 misma entidad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puede tener bindings simultáneos a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lakehouse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eventhouse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modelos semánticos existentes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esto es lo que hace única a la ontología en Fabric.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6022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Cuándo Usar Cada Vía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5350" y="1734344"/>
            <a:ext cx="3190101" cy="4263430"/>
          </a:xfrm>
          <a:prstGeom prst="roundRect">
            <a:avLst>
              <a:gd name="adj" fmla="val 889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14357" y="1923355"/>
            <a:ext cx="2812087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8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Usa el modelo semántico si…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2709267"/>
            <a:ext cx="2812087" cy="322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Tienes un modelo </a:t>
            </a: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Direct Lake limpio</a:t>
            </a: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 un workspace con red permisiva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Quieres pasar de meses a minutos en el setup inicial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tienes campos Decimal críticos en el modelo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Tu postura de seguridad permite acceso público entrante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1923355"/>
            <a:ext cx="291785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Usa Lakehouse directo si…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2413992"/>
            <a:ext cx="2917851" cy="322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tienes un modelo semántico maduro disponible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Tienes seguridad de red restrictiva en producción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Tus datos contienen campos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Decimal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(finanzas, facturación)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Necesitas mezclar fuentes: lakehouse + eventhouse + otras</a:t>
            </a:r>
            <a:endParaRPr lang="en-US" sz="14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75C7BDF-875B-78F1-4036-B01367D4A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7CD282F-31D9-EB28-8C71-73D1A1CB0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D68099F-1AED-3D82-A8C3-A9F23E51FA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99BAE76-3938-4FBE-5788-A03A6AE98B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A8118F7-9A18-7824-2FB7-F1AA99775C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C522B71-9317-0591-9DC1-D7C782A7EE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6C2B78B-8926-4374-DFDC-E9FC357B26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15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Orígenes que Soporta un Data Agent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01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Data Agent puede conectar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hasta 5 fuentes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 cualquier combinación, cada una con su propio motor de consulta.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75235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029075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SQL / Lakehouse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437757"/>
            <a:ext cx="2539936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Lakehouse, Warehouse, SQL Database, Mirrored Database → Motor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NL2SQL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75235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402907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437757"/>
            <a:ext cx="2540036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Modelos semánticos Power BI → Motor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NL2DAX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75235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402907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Eventhouse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37757"/>
            <a:ext cx="2540036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Eventhouse KQL → Motor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NL2KQL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75235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402907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Graph / Ontología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437757"/>
            <a:ext cx="2540036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Graph →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GQL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Ontología → motor nativo · Azure AI Search → búsqueda semántica (preview)</a:t>
            </a:r>
            <a:endParaRPr lang="en-US" sz="14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2B1B3B3-EF23-5FB8-5DB6-64E78D7D2A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85442E2-2CD8-1E9C-8EA1-3FFDD8970B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674F8EB-2A77-69F9-5393-2CF07BD763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8088383-15AF-5800-F022-D3053CA14F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9A54AFF-9327-3E0E-7363-79A0AAD217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B0ED2D3-21B2-1E4A-99F8-15AC8804D7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505DC11-8B4E-C366-1E53-CE3DD72771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Office PowerPoint</Application>
  <PresentationFormat>Panorámica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Consolas</vt:lpstr>
      <vt:lpstr>Heebo</vt:lpstr>
      <vt:lpstr>Twemoji Mozilla</vt:lpstr>
      <vt:lpstr>Crimson Pro SemiBold</vt:lpstr>
      <vt:lpstr>Twemoji Mozilla, Apple Color Emoji, Segoe UI Emoji, Segoe UI Symbol, Noto Color Emoji, EmojiOne Color, Android Emoji, sans-serif</vt:lpstr>
      <vt:lpstr>Heebo Bold</vt:lpstr>
      <vt:lpstr>Arial</vt:lpstr>
      <vt:lpstr>Crimson Pro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vicente antonio juan magallanes</cp:lastModifiedBy>
  <cp:revision>2</cp:revision>
  <dcterms:created xsi:type="dcterms:W3CDTF">2026-09-11T14:05:59Z</dcterms:created>
  <dcterms:modified xsi:type="dcterms:W3CDTF">2026-09-11T14:10:32Z</dcterms:modified>
</cp:coreProperties>
</file>